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Match %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2F3C7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Drawing</c:v>
                  </c:pt>
                  <c:pt idx="1">
                    <c:v>Music</c:v>
                  </c:pt>
                  <c:pt idx="2">
                    <c:v>Photography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78</c:v>
                </c:pt>
                <c:pt idx="2">
                  <c:v>71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2F3C7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C7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Hobby Matchmaker is a web platform that helps people discover hobbies that match their interests, skills, personality, available time and preferences.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platforms only provide general hobby lists. Hobby Matchmaker analyses user preferences and matches them with suitable hobbies. Six main objectives are shown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core features: registration and login, a preference questionnaire, personalized matching, search and filter, hobby details, favorites, recommendation score, and an admin panel.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steps in three phases: register and set preferences, get matched by the algorithm and see scores, then explore hobby details, save favorites and start the hobby.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questionnaire answers feed the matching algorithm, which calculates a match percentage for each hobby. The scores shown are examples: Drawing 92%, Music 78%, Photography 71%.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Frontend in HTML, CSS and JavaScript; backend in Python with Flask; database in MySQL. The admin panel lets administrators manage hobbies and users and see basic statistics.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judges and audience, then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N Build'26 Gujarat Round Hackathon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Hobby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Matchmaker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Hobby Matchmaker for Aatmoday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20040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3D4B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3101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Bug Bunnies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673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Niyati Sojitra (Leader)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37673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Darshan Patil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1148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 Amritakumari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154680" y="41148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Solanki Jatin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89320" y="548640"/>
            <a:ext cx="1051560" cy="10515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9924" y="809244"/>
            <a:ext cx="530352" cy="53035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5989320" y="1874520"/>
            <a:ext cx="1051560" cy="1051560"/>
          </a:xfrm>
          <a:prstGeom prst="ellipse">
            <a:avLst/>
          </a:prstGeom>
          <a:solidFill>
            <a:srgbClr val="F9E795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924" y="2135124"/>
            <a:ext cx="530352" cy="53035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89320" y="3200400"/>
            <a:ext cx="1051560" cy="10515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9924" y="3461004"/>
            <a:ext cx="530352" cy="53035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315200" y="868680"/>
            <a:ext cx="1051560" cy="1051560"/>
          </a:xfrm>
          <a:prstGeom prst="ellipse">
            <a:avLst/>
          </a:prstGeom>
          <a:solidFill>
            <a:srgbClr val="F9E795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5804" y="1129284"/>
            <a:ext cx="530352" cy="53035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315200" y="2194560"/>
            <a:ext cx="1051560" cy="10515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5804" y="2455164"/>
            <a:ext cx="530352" cy="53035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7315200" y="3520440"/>
            <a:ext cx="1051560" cy="10515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5804" y="3781044"/>
            <a:ext cx="530352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Hobby Matchmaker?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291840" cy="3383280"/>
          </a:xfrm>
          <a:prstGeom prst="roundRect">
            <a:avLst>
              <a:gd name="adj" fmla="val 3333"/>
            </a:avLst>
          </a:prstGeom>
          <a:solidFill>
            <a:srgbClr val="F3F4F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62306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508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0312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platforms give general hobby lists, but no personalized recommendations.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306324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3177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solution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3657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your interests, skills, time and budget to suggest hobbies that fit you.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023360" y="10972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OBJECTIVES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023360" y="1417320"/>
            <a:ext cx="2286000" cy="960120"/>
          </a:xfrm>
          <a:prstGeom prst="roundRect">
            <a:avLst>
              <a:gd name="adj" fmla="val 11429"/>
            </a:avLst>
          </a:prstGeom>
          <a:solidFill>
            <a:srgbClr val="F3F4FB"/>
          </a:solidFill>
          <a:ln/>
        </p:spPr>
      </p:sp>
      <p:sp>
        <p:nvSpPr>
          <p:cNvPr id="14" name="Shape 10"/>
          <p:cNvSpPr/>
          <p:nvPr/>
        </p:nvSpPr>
        <p:spPr>
          <a:xfrm>
            <a:off x="4160520" y="166878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820" y="178308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754880" y="150876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and explore hobbies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92240" y="1417320"/>
            <a:ext cx="2286000" cy="960120"/>
          </a:xfrm>
          <a:prstGeom prst="roundRect">
            <a:avLst>
              <a:gd name="adj" fmla="val 11429"/>
            </a:avLst>
          </a:prstGeom>
          <a:solidFill>
            <a:srgbClr val="F3F4FB"/>
          </a:solidFill>
          <a:ln/>
        </p:spPr>
      </p:sp>
      <p:sp>
        <p:nvSpPr>
          <p:cNvPr id="18" name="Shape 13"/>
          <p:cNvSpPr/>
          <p:nvPr/>
        </p:nvSpPr>
        <p:spPr>
          <a:xfrm>
            <a:off x="6629400" y="166878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700" y="17830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223760" y="150876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recommendations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4023360" y="2560320"/>
            <a:ext cx="2286000" cy="960120"/>
          </a:xfrm>
          <a:prstGeom prst="roundRect">
            <a:avLst>
              <a:gd name="adj" fmla="val 11429"/>
            </a:avLst>
          </a:prstGeom>
          <a:solidFill>
            <a:srgbClr val="F3F4FB"/>
          </a:solidFill>
          <a:ln/>
        </p:spPr>
      </p:sp>
      <p:sp>
        <p:nvSpPr>
          <p:cNvPr id="22" name="Shape 16"/>
          <p:cNvSpPr/>
          <p:nvPr/>
        </p:nvSpPr>
        <p:spPr>
          <a:xfrm>
            <a:off x="4160520" y="281178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4820" y="292608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754880" y="265176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interests and preferences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92240" y="2560320"/>
            <a:ext cx="2286000" cy="960120"/>
          </a:xfrm>
          <a:prstGeom prst="roundRect">
            <a:avLst>
              <a:gd name="adj" fmla="val 11429"/>
            </a:avLst>
          </a:prstGeom>
          <a:solidFill>
            <a:srgbClr val="F3F4FB"/>
          </a:solidFill>
          <a:ln/>
        </p:spPr>
      </p:sp>
      <p:sp>
        <p:nvSpPr>
          <p:cNvPr id="26" name="Shape 19"/>
          <p:cNvSpPr/>
          <p:nvPr/>
        </p:nvSpPr>
        <p:spPr>
          <a:xfrm>
            <a:off x="6629400" y="281178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3700" y="2926080"/>
            <a:ext cx="228600" cy="2286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223760" y="265176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difficulty, time, cost and materials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4023360" y="3703320"/>
            <a:ext cx="2286000" cy="960120"/>
          </a:xfrm>
          <a:prstGeom prst="roundRect">
            <a:avLst>
              <a:gd name="adj" fmla="val 11429"/>
            </a:avLst>
          </a:prstGeom>
          <a:solidFill>
            <a:srgbClr val="F3F4FB"/>
          </a:solidFill>
          <a:ln/>
        </p:spPr>
      </p:sp>
      <p:sp>
        <p:nvSpPr>
          <p:cNvPr id="30" name="Shape 22"/>
          <p:cNvSpPr/>
          <p:nvPr/>
        </p:nvSpPr>
        <p:spPr>
          <a:xfrm>
            <a:off x="4160520" y="395478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4820" y="406908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754880" y="379476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free time productively</a:t>
            </a:r>
            <a:endParaRPr lang="en-US" sz="1300" dirty="0"/>
          </a:p>
        </p:txBody>
      </p:sp>
      <p:sp>
        <p:nvSpPr>
          <p:cNvPr id="33" name="Shape 24"/>
          <p:cNvSpPr/>
          <p:nvPr/>
        </p:nvSpPr>
        <p:spPr>
          <a:xfrm>
            <a:off x="6492240" y="3703320"/>
            <a:ext cx="2286000" cy="960120"/>
          </a:xfrm>
          <a:prstGeom prst="roundRect">
            <a:avLst>
              <a:gd name="adj" fmla="val 11429"/>
            </a:avLst>
          </a:prstGeom>
          <a:solidFill>
            <a:srgbClr val="F3F4FB"/>
          </a:solidFill>
          <a:ln/>
        </p:spPr>
      </p:sp>
      <p:sp>
        <p:nvSpPr>
          <p:cNvPr id="34" name="Shape 25"/>
          <p:cNvSpPr/>
          <p:nvPr/>
        </p:nvSpPr>
        <p:spPr>
          <a:xfrm>
            <a:off x="6629400" y="395478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3700" y="40690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223760" y="379476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Easy, attractive interface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828800" cy="1600200"/>
          </a:xfrm>
          <a:prstGeom prst="roundRect">
            <a:avLst>
              <a:gd name="adj" fmla="val 6857"/>
            </a:avLst>
          </a:prstGeom>
          <a:solidFill>
            <a:srgbClr val="F3F4FB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37160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&amp; Login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1945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 and log in securely.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90800" y="1234440"/>
            <a:ext cx="1828800" cy="1600200"/>
          </a:xfrm>
          <a:prstGeom prst="roundRect">
            <a:avLst>
              <a:gd name="adj" fmla="val 6857"/>
            </a:avLst>
          </a:prstGeom>
          <a:solidFill>
            <a:srgbClr val="F3F4FB"/>
          </a:solidFill>
          <a:ln/>
        </p:spPr>
      </p:sp>
      <p:sp>
        <p:nvSpPr>
          <p:cNvPr id="9" name="Shape 6"/>
          <p:cNvSpPr/>
          <p:nvPr/>
        </p:nvSpPr>
        <p:spPr>
          <a:xfrm>
            <a:off x="2727960" y="137160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2260" y="148590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72796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727960" y="21945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Interests, budget, free time, indoor or outdoor, solo or group.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724400" y="1234440"/>
            <a:ext cx="1828800" cy="1600200"/>
          </a:xfrm>
          <a:prstGeom prst="roundRect">
            <a:avLst>
              <a:gd name="adj" fmla="val 6857"/>
            </a:avLst>
          </a:prstGeom>
          <a:solidFill>
            <a:srgbClr val="F3F4FB"/>
          </a:solidFill>
          <a:ln/>
        </p:spPr>
      </p:sp>
      <p:sp>
        <p:nvSpPr>
          <p:cNvPr id="14" name="Shape 10"/>
          <p:cNvSpPr/>
          <p:nvPr/>
        </p:nvSpPr>
        <p:spPr>
          <a:xfrm>
            <a:off x="4861560" y="137160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5860" y="148590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86156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Matching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861560" y="21945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suitable hobbies from your answers.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858000" y="1234440"/>
            <a:ext cx="1828800" cy="1600200"/>
          </a:xfrm>
          <a:prstGeom prst="roundRect">
            <a:avLst>
              <a:gd name="adj" fmla="val 6857"/>
            </a:avLst>
          </a:prstGeom>
          <a:solidFill>
            <a:srgbClr val="F3F4FB"/>
          </a:solidFill>
          <a:ln/>
        </p:spPr>
      </p:sp>
      <p:sp>
        <p:nvSpPr>
          <p:cNvPr id="19" name="Shape 14"/>
          <p:cNvSpPr/>
          <p:nvPr/>
        </p:nvSpPr>
        <p:spPr>
          <a:xfrm>
            <a:off x="6995160" y="137160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460" y="148590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99516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Filter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995160" y="21945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category, cost, difficulty, time and more.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063240"/>
            <a:ext cx="1828800" cy="1600200"/>
          </a:xfrm>
          <a:prstGeom prst="roundRect">
            <a:avLst>
              <a:gd name="adj" fmla="val 6857"/>
            </a:avLst>
          </a:prstGeom>
          <a:solidFill>
            <a:srgbClr val="F3F4FB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20040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331470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94360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Hobby Details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5943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Benefits, equipment, cost, time and beginner tips.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590800" y="3063240"/>
            <a:ext cx="1828800" cy="1600200"/>
          </a:xfrm>
          <a:prstGeom prst="roundRect">
            <a:avLst>
              <a:gd name="adj" fmla="val 6857"/>
            </a:avLst>
          </a:prstGeom>
          <a:solidFill>
            <a:srgbClr val="F3F4FB"/>
          </a:solidFill>
          <a:ln/>
        </p:spPr>
      </p:sp>
      <p:sp>
        <p:nvSpPr>
          <p:cNvPr id="29" name="Shape 22"/>
          <p:cNvSpPr/>
          <p:nvPr/>
        </p:nvSpPr>
        <p:spPr>
          <a:xfrm>
            <a:off x="2727960" y="320040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2260" y="3314700"/>
            <a:ext cx="228600" cy="2286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2727960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Favorites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27279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hobbies you like and view them later.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4724400" y="3063240"/>
            <a:ext cx="1828800" cy="1600200"/>
          </a:xfrm>
          <a:prstGeom prst="roundRect">
            <a:avLst>
              <a:gd name="adj" fmla="val 6857"/>
            </a:avLst>
          </a:prstGeom>
          <a:solidFill>
            <a:srgbClr val="F3F4FB"/>
          </a:solidFill>
          <a:ln/>
        </p:spPr>
      </p:sp>
      <p:sp>
        <p:nvSpPr>
          <p:cNvPr id="34" name="Shape 26"/>
          <p:cNvSpPr/>
          <p:nvPr/>
        </p:nvSpPr>
        <p:spPr>
          <a:xfrm>
            <a:off x="4861560" y="320040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5860" y="3314700"/>
            <a:ext cx="228600" cy="22860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861560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Score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48615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matching percentage for every recommended hobby.</a:t>
            </a:r>
            <a:endParaRPr lang="en-US" sz="1200" dirty="0"/>
          </a:p>
        </p:txBody>
      </p:sp>
      <p:sp>
        <p:nvSpPr>
          <p:cNvPr id="38" name="Shape 29"/>
          <p:cNvSpPr/>
          <p:nvPr/>
        </p:nvSpPr>
        <p:spPr>
          <a:xfrm>
            <a:off x="6858000" y="3063240"/>
            <a:ext cx="1828800" cy="1600200"/>
          </a:xfrm>
          <a:prstGeom prst="roundRect">
            <a:avLst>
              <a:gd name="adj" fmla="val 6857"/>
            </a:avLst>
          </a:prstGeom>
          <a:solidFill>
            <a:srgbClr val="F3F4FB"/>
          </a:solidFill>
          <a:ln/>
        </p:spPr>
      </p:sp>
      <p:sp>
        <p:nvSpPr>
          <p:cNvPr id="39" name="Shape 30"/>
          <p:cNvSpPr/>
          <p:nvPr/>
        </p:nvSpPr>
        <p:spPr>
          <a:xfrm>
            <a:off x="6995160" y="320040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9460" y="3314700"/>
            <a:ext cx="228600" cy="22860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995160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</a:t>
            </a:r>
            <a:endParaRPr lang="en-US" sz="1400" dirty="0"/>
          </a:p>
        </p:txBody>
      </p:sp>
      <p:sp>
        <p:nvSpPr>
          <p:cNvPr id="42" name="Text 32"/>
          <p:cNvSpPr txBox="1"/>
          <p:nvPr/>
        </p:nvSpPr>
        <p:spPr>
          <a:xfrm>
            <a:off x="69951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edit and delete hobbies, manage users, view stats.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Flow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468880" cy="3337560"/>
          </a:xfrm>
          <a:prstGeom prst="roundRect">
            <a:avLst>
              <a:gd name="adj" fmla="val 4444"/>
            </a:avLst>
          </a:prstGeom>
          <a:solidFill>
            <a:srgbClr val="F3F4F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46304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2F3C7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322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94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/ Login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718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personal preferences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7705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hobby questionnaire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3804" y="2820924"/>
            <a:ext cx="256032" cy="256032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3337560" y="1280160"/>
            <a:ext cx="2468880" cy="3337560"/>
          </a:xfrm>
          <a:prstGeom prst="roundRect">
            <a:avLst>
              <a:gd name="adj" fmla="val 4444"/>
            </a:avLst>
          </a:prstGeom>
          <a:solidFill>
            <a:srgbClr val="F3F4FB"/>
          </a:solidFill>
          <a:ln/>
        </p:spPr>
      </p:sp>
      <p:sp>
        <p:nvSpPr>
          <p:cNvPr id="17" name="Shape 14"/>
          <p:cNvSpPr/>
          <p:nvPr/>
        </p:nvSpPr>
        <p:spPr>
          <a:xfrm>
            <a:off x="3520440" y="146304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2F3C7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520440" y="1463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Matched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520440" y="232257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520440" y="2322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2194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matching algorithm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520440" y="309981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5204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069080" y="29718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match score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520440" y="387705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52044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recommended hobbies</a:t>
            </a:r>
            <a:endParaRPr lang="en-US" sz="140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164" y="2820924"/>
            <a:ext cx="256032" cy="256032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217920" y="1280160"/>
            <a:ext cx="2468880" cy="3337560"/>
          </a:xfrm>
          <a:prstGeom prst="roundRect">
            <a:avLst>
              <a:gd name="adj" fmla="val 4444"/>
            </a:avLst>
          </a:prstGeom>
          <a:solidFill>
            <a:srgbClr val="F3F4FB"/>
          </a:solidFill>
          <a:ln/>
        </p:spPr>
      </p:sp>
      <p:sp>
        <p:nvSpPr>
          <p:cNvPr id="30" name="Shape 26"/>
          <p:cNvSpPr/>
          <p:nvPr/>
        </p:nvSpPr>
        <p:spPr>
          <a:xfrm>
            <a:off x="6400800" y="146304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2F3C7E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400800" y="1463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6400800" y="232257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6400800" y="2322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6949440" y="2194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hobby details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6400800" y="309981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640080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6949440" y="29718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favorites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400800" y="387705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640080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694944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/ explore the hobby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Matching &amp; Scores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474720" cy="3383280"/>
          </a:xfrm>
          <a:prstGeom prst="roundRect">
            <a:avLst>
              <a:gd name="adj" fmla="val 3243"/>
            </a:avLst>
          </a:prstGeom>
          <a:solidFill>
            <a:srgbClr val="2F3C7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you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2834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interests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 or outdoor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time available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or group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you enjoy</a:t>
            </a:r>
            <a:endParaRPr lang="en-US" sz="1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1648" y="2843784"/>
            <a:ext cx="256032" cy="2560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389120" y="1280160"/>
            <a:ext cx="4297680" cy="3383280"/>
          </a:xfrm>
          <a:prstGeom prst="roundRect">
            <a:avLst>
              <a:gd name="adj" fmla="val 3243"/>
            </a:avLst>
          </a:prstGeom>
          <a:solidFill>
            <a:srgbClr val="F3F4F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663440" y="1508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 score</a:t>
            </a:r>
            <a:endParaRPr lang="en-US" sz="2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0" y="196596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663440" y="4160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match percentages shown to the user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&amp; Admin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777240"/>
          </a:xfrm>
          <a:prstGeom prst="roundRect">
            <a:avLst>
              <a:gd name="adj" fmla="val 14118"/>
            </a:avLst>
          </a:prstGeom>
          <a:solidFill>
            <a:srgbClr val="3D4B94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0589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34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CSS, JavaScript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103120"/>
            <a:ext cx="4023360" cy="777240"/>
          </a:xfrm>
          <a:prstGeom prst="roundRect">
            <a:avLst>
              <a:gd name="adj" fmla="val 14118"/>
            </a:avLst>
          </a:prstGeom>
          <a:solidFill>
            <a:srgbClr val="3D4B94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" y="2240280"/>
            <a:ext cx="502920" cy="502920"/>
          </a:xfrm>
          <a:prstGeom prst="ellipse">
            <a:avLst/>
          </a:prstGeom>
          <a:solidFill>
            <a:srgbClr val="F9E79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10" y="236601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94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Flask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4118"/>
            </a:avLst>
          </a:prstGeom>
          <a:solidFill>
            <a:srgbClr val="3D4B94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" y="33261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4754880" y="1143000"/>
            <a:ext cx="393192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07492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Panel</a:t>
            </a:r>
            <a:endParaRPr lang="en-US" sz="20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819656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86400" y="178308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new hobbies</a:t>
            </a:r>
            <a:endParaRPr lang="en-US" sz="14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221992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0" y="218541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hobby information</a:t>
            </a:r>
            <a:endParaRPr lang="en-US" sz="14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624328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486400" y="25877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hobbies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74920" y="3026664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486400" y="29900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users</a:t>
            </a:r>
            <a:endParaRPr lang="en-US" sz="14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920" y="34290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5486400" y="33924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basic system statistics</a:t>
            </a:r>
            <a:endParaRPr lang="en-US" sz="1400" dirty="0"/>
          </a:p>
        </p:txBody>
      </p:sp>
      <p:sp>
        <p:nvSpPr>
          <p:cNvPr id="30" name="Text 20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Helping people spend their free time productively.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14600" y="868680"/>
            <a:ext cx="640080" cy="6400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4620" y="1028700"/>
            <a:ext cx="320040" cy="3200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383280" y="868680"/>
            <a:ext cx="640080" cy="640080"/>
          </a:xfrm>
          <a:prstGeom prst="ellipse">
            <a:avLst/>
          </a:prstGeom>
          <a:solidFill>
            <a:srgbClr val="F9E795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028700"/>
            <a:ext cx="320040" cy="3200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251960" y="868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28700"/>
            <a:ext cx="320040" cy="3200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5120640" y="868680"/>
            <a:ext cx="640080" cy="6400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0660" y="1028700"/>
            <a:ext cx="320040" cy="3200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5989320" y="868680"/>
            <a:ext cx="640080" cy="640080"/>
          </a:xfrm>
          <a:prstGeom prst="ellipse">
            <a:avLst/>
          </a:prstGeom>
          <a:solidFill>
            <a:srgbClr val="F9E795"/>
          </a:solidFill>
          <a:ln/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9340" y="1028700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457200" y="18745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13" name="Text 6"/>
          <p:cNvSpPr txBox="1"/>
          <p:nvPr/>
        </p:nvSpPr>
        <p:spPr>
          <a:xfrm>
            <a:off x="457200" y="3108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Hobby Matchmaker for Aatmoday</a:t>
            </a:r>
            <a:endParaRPr lang="en-US" sz="2200" dirty="0"/>
          </a:p>
        </p:txBody>
      </p:sp>
      <p:sp>
        <p:nvSpPr>
          <p:cNvPr id="14" name="Text 7"/>
          <p:cNvSpPr txBox="1"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6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Bug Bunnies  |  Bit N Build'26 Gujarat Round Hackathon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Hobby Matchmaker</dc:title>
  <dc:subject>PptxGenJS Presentation</dc:subject>
  <dc:creator>PptxGenJS</dc:creator>
  <cp:lastModifiedBy>PptxGenJS</cp:lastModifiedBy>
  <cp:revision>1</cp:revision>
  <dcterms:created xsi:type="dcterms:W3CDTF">2026-09-19T15:02:21Z</dcterms:created>
  <dcterms:modified xsi:type="dcterms:W3CDTF">2026-09-19T15:02:21Z</dcterms:modified>
</cp:coreProperties>
</file>